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PI Demo Presentation</a:t>
            </a:r>
          </a:p>
        </p:txBody>
      </p:sp>
      <p:sp>
        <p:nvSpPr>
          <p:cNvPr id="3" name="Subtitle 2"/>
          <p:cNvSpPr>
            <a:spLocks noGrp="1"/>
          </p:cNvSpPr>
          <p:nvPr>
            <p:ph type="subTitle" idx="1"/>
          </p:nvPr>
        </p:nvSpPr>
        <p:spPr/>
        <p:txBody>
          <a:bodyPr/>
          <a:lstStyle/>
          <a:p>
            <a:r>
              <a:t>Sprint Highlights for IELTS on Paper (IOP) Product Integration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Activation</a:t>
            </a:r>
          </a:p>
        </p:txBody>
      </p:sp>
      <p:sp>
        <p:nvSpPr>
          <p:cNvPr id="3" name="Content Placeholder 2"/>
          <p:cNvSpPr>
            <a:spLocks noGrp="1"/>
          </p:cNvSpPr>
          <p:nvPr>
            <p:ph idx="1"/>
          </p:nvPr>
        </p:nvSpPr>
        <p:spPr/>
        <p:txBody>
          <a:bodyPr/>
          <a:lstStyle/>
          <a:p>
            <a:r>
              <a:t>As part of introducing the new IELTS on Paper (IOP) product, we successfully activated it across lower and production environments. This foundational step ensured that IOP is now recognized within our platform, enabling us to proceed with its full integration across systems. Activation was critical to initiate visibility, configuration, and eventual operational readiness across all user interfaces and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View &amp; Configure IOP Products</a:t>
            </a:r>
          </a:p>
        </p:txBody>
      </p:sp>
      <p:sp>
        <p:nvSpPr>
          <p:cNvPr id="3" name="Content Placeholder 2"/>
          <p:cNvSpPr>
            <a:spLocks noGrp="1"/>
          </p:cNvSpPr>
          <p:nvPr>
            <p:ph idx="1"/>
          </p:nvPr>
        </p:nvSpPr>
        <p:spPr/>
        <p:txBody>
          <a:bodyPr/>
          <a:lstStyle/>
          <a:p>
            <a:r>
              <a:t>Once activated, we enhanced the CMDS UI to support the viewing and configuration of IOP products. Now, as IELTS Global Ops users, we can see IOP alongside existing products within the product management screen, configure authorizations, and manage their availability for specific Test Centres and Physical Buildings. This enabled granular product control through a user-friendly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Cascade Product Approvals</a:t>
            </a:r>
          </a:p>
        </p:txBody>
      </p:sp>
      <p:sp>
        <p:nvSpPr>
          <p:cNvPr id="3" name="Content Placeholder 2"/>
          <p:cNvSpPr>
            <a:spLocks noGrp="1"/>
          </p:cNvSpPr>
          <p:nvPr>
            <p:ph idx="1"/>
          </p:nvPr>
        </p:nvSpPr>
        <p:spPr/>
        <p:txBody>
          <a:bodyPr/>
          <a:lstStyle/>
          <a:p>
            <a:r>
              <a:t>To reduce operational overhead and eliminate manual effort, we implemented cascading logic for product approvals. Now, when a product like IOP is approved for a Test Centre, the approval automatically cascades to all of its associated Physical Buildings. This feature ensures consistency, speeds up rollout, and minimizes the risk of human error during product assignment.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RBAC Permissions for Allocation Groups and Products</a:t>
            </a:r>
          </a:p>
        </p:txBody>
      </p:sp>
      <p:sp>
        <p:nvSpPr>
          <p:cNvPr id="3" name="Content Placeholder 2"/>
          <p:cNvSpPr>
            <a:spLocks noGrp="1"/>
          </p:cNvSpPr>
          <p:nvPr>
            <p:ph idx="1"/>
          </p:nvPr>
        </p:nvSpPr>
        <p:spPr/>
        <p:txBody>
          <a:bodyPr/>
          <a:lstStyle/>
          <a:p>
            <a:r>
              <a:t>We introduced robust role-based access control (RBAC) to manage who can view and perform actions on Allocation Groups and IOP products. This includes defining granular CRUD permissions for users, ensuring only authorized individuals can add, modify, or delete allocation data. It adds a security layer and aligns access with user roles and responsibilities.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&amp; View Allocation Groups</a:t>
            </a:r>
          </a:p>
        </p:txBody>
      </p:sp>
      <p:sp>
        <p:nvSpPr>
          <p:cNvPr id="3" name="Content Placeholder 2"/>
          <p:cNvSpPr>
            <a:spLocks noGrp="1"/>
          </p:cNvSpPr>
          <p:nvPr>
            <p:ph idx="1"/>
          </p:nvPr>
        </p:nvSpPr>
        <p:spPr/>
        <p:txBody>
          <a:bodyPr/>
          <a:lstStyle/>
          <a:p>
            <a:r>
              <a:t>Building on the RBAC foundation, we developed features that allow authorized users to create new Allocation Groups by specifying their names and statuses. In addition, a view-all page was implemented where users can see a list of all configured groups, allowing them to filter, search, and monitor group configurations across the 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Edit &amp; View Individual Allocation Group Details</a:t>
            </a:r>
          </a:p>
        </p:txBody>
      </p:sp>
      <p:sp>
        <p:nvSpPr>
          <p:cNvPr id="3" name="Content Placeholder 2"/>
          <p:cNvSpPr>
            <a:spLocks noGrp="1"/>
          </p:cNvSpPr>
          <p:nvPr>
            <p:ph idx="1"/>
          </p:nvPr>
        </p:nvSpPr>
        <p:spPr/>
        <p:txBody>
          <a:bodyPr/>
          <a:lstStyle/>
          <a:p>
            <a:r>
              <a:t>Finally, we enhanced the Allocation Group experience by adding edit capabilities and detailed views. Users with appropriate permissions can now update group information or click into any group to see its specific assignments and metadata. This supports better group lifecycle management and provides full visibility into allocation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